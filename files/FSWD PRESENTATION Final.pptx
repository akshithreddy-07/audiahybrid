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26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plan: build and prove a digital text link first, then add voice on the same hybrid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 and optical have opposite strengths and weaknesses. Use both, and decide between them with live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ESP32 sends and receives in the demo. The broker carries the results to the backend and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text first: simpler hardware, and the CRC gives measurable success rates per link. Voice reuses the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steps, then the four pins. The 10k/10k divider protects the ESP32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voice phase is the original design from the reports. The main risk is that 433 MHz modules are made for digital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send HELLO, cover the LED, show the badge flip to RF, then success rates and the event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 one side changes a field name, the other two break, so the contract is written down and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backend bridges MQTT to storage and live streams. The live hardware panel also talks to MQTT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honest picture: what is verified, what is limited, and what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F2937"/>
                </a:solidFill>
              </a:rPr>
              <a:t>AudiaHybrid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7A78"/>
                </a:solidFill>
              </a:rPr>
              <a:t>Hybrid RF–Optical Assistive Listening &amp; Real-Time Telemetry Platform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7A3C"/>
                </a:solidFill>
              </a:rPr>
              <a:t>Phase 1: digital text link   ·   Phase 2: voice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67085"/>
                </a:solidFill>
              </a:rPr>
              <a:t>Cyril Raj  ·  Reg. No. 2510040085  ·  Section 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67085"/>
                </a:solidFill>
              </a:rPr>
              <a:t>B.Tech ECE, Year 2  ·  KLH Aziznagar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67085"/>
                </a:solidFill>
              </a:rPr>
              <a:t>Course 25SC2008E  ·  Full Stack Web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The problem: one link is never enough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Assistive listening devices usually rely on a single medium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AudiaHybrid  ·  Cyril Raj  ·  2/10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9319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325880"/>
            <a:ext cx="54864" cy="2057400"/>
          </a:xfrm>
          <a:prstGeom prst="rect">
            <a:avLst/>
          </a:prstGeom>
          <a:solidFill>
            <a:srgbClr val="C47A3C"/>
          </a:solidFill>
          <a:ln w="6350">
            <a:solidFill>
              <a:srgbClr val="C47A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3C"/>
                </a:solidFill>
              </a:rPr>
              <a:t>Radio frequency (433 MHz)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78308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Passes through walls (non-line-of-sight)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Longer range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Prone to interference and congestion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Signal leaks outside the room: weak privacy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325880"/>
            <a:ext cx="393192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325880"/>
            <a:ext cx="54864" cy="2057400"/>
          </a:xfrm>
          <a:prstGeom prst="rect">
            <a:avLst/>
          </a:prstGeom>
          <a:solidFill>
            <a:srgbClr val="477A9E"/>
          </a:solidFill>
          <a:ln w="6350">
            <a:solidFill>
              <a:srgbClr val="477A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7A9E"/>
                </a:solidFill>
              </a:rPr>
              <a:t>Optical (LED light)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78308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Immune to RF noise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Stays in the room: private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Needs line of sight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Ambient light can saturate the receiver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E9E3F2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36576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7A78"/>
                </a:solidFill>
              </a:rPr>
              <a:t>Our answer: </a:t>
            </a:r>
            <a:r>
              <a:rPr lang="en-US" sz="1250" dirty="0">
                <a:solidFill>
                  <a:srgbClr val="1F2937"/>
                </a:solidFill>
              </a:rPr>
              <a:t>send over both links at once. Phase 1 is a text link: you type a message on the dashboard, the ESP32 sends it as light and radio together, checks it with a CRC and reports which link delivered it. Voice follows once the text link works.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System architecture (Phase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A message travels the hybrid link and the result comes back to the dashboard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AudiaHybrid  ·  Cyril Raj  ·  3/10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4630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477A9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7A9E"/>
                </a:solidFill>
              </a:rPr>
              <a:t>Dashboard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783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Type a message to send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17373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7085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148840" y="1371600"/>
            <a:ext cx="14630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2B7A7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4028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A78"/>
                </a:solidFill>
              </a:rPr>
              <a:t>ESP32 sends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1783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Adds CRC, drives LED and 433 MHz TX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611880" y="17373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7085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840480" y="1371600"/>
            <a:ext cx="14630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C47A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3192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7A3C"/>
                </a:solidFill>
              </a:rPr>
              <a:t>Two links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1783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White LED light + 433 MHz radio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17373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7085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532120" y="1371600"/>
            <a:ext cx="14630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2B7A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2356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A78"/>
                </a:solidFill>
              </a:rPr>
              <a:t>ESP32 receives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623560" y="1783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Decodes both, checks CRC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17373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7085"/>
                </a:solidFill>
              </a:rPr>
              <a:t>›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223760" y="1371600"/>
            <a:ext cx="14630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477A9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7A9E"/>
                </a:solidFill>
              </a:rPr>
              <a:t>Broker + backend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1783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</a:rPr>
              <a:t>MQTT → SQLite → dashboard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288036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880360"/>
            <a:ext cx="54864" cy="178308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2971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A78"/>
                </a:solidFill>
              </a:rPr>
              <a:t>Same board, both ends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333756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One ESP32 transmits and receives in the demo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Built and tested in Wokwi first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46120" y="288036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46120" y="2880360"/>
            <a:ext cx="54864" cy="1783080"/>
          </a:xfrm>
          <a:prstGeom prst="rect">
            <a:avLst/>
          </a:prstGeom>
          <a:solidFill>
            <a:srgbClr val="477A9E"/>
          </a:solidFill>
          <a:ln w="6350">
            <a:solidFill>
              <a:srgbClr val="477A9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29000" y="2971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7A9E"/>
                </a:solidFill>
              </a:rPr>
              <a:t>Result path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3429000" y="333756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Delivery result sent over MQTT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Backend stores it in SQLite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Dashboard shows badge, success rates, event log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035040" y="2880360"/>
            <a:ext cx="26517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035040" y="2880360"/>
            <a:ext cx="54864" cy="1783080"/>
          </a:xfrm>
          <a:prstGeom prst="rect">
            <a:avLst/>
          </a:prstGeom>
          <a:solidFill>
            <a:srgbClr val="C47A3C"/>
          </a:solidFill>
          <a:ln w="6350">
            <a:solidFill>
              <a:srgbClr val="C47A3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217920" y="2971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3C"/>
                </a:solidFill>
              </a:rPr>
              <a:t>Ready for voice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217920" y="333756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Phase 2 reuses the broker, backend and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Plan: text first, then voice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Two phases on the same hybrid link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AudiaHybrid  ·  Cyril Raj  ·  4/10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325880"/>
            <a:ext cx="54864" cy="233172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17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A78"/>
                </a:solidFill>
              </a:rPr>
              <a:t>Phase 1: digital text link (now)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783080"/>
            <a:ext cx="3703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Type a message on the dashboard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Sent as LED pulses and 433 MHz together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CRC check; reports which link delivered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No capacitors; parts already on the list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4023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325880"/>
            <a:ext cx="54864" cy="2331720"/>
          </a:xfrm>
          <a:prstGeom prst="rect">
            <a:avLst/>
          </a:prstGeom>
          <a:solidFill>
            <a:srgbClr val="C47A3C"/>
          </a:solidFill>
          <a:ln w="6350">
            <a:solidFill>
              <a:srgbClr val="C47A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417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3C"/>
                </a:solidFill>
              </a:rPr>
              <a:t>Phase 2: voice (next)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783080"/>
            <a:ext cx="3703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Mic → LM741 preamp → 300 Hz–3.4 kHz filter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LED driver and 433 MHz transmitter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Photodiode and RF receivers, LM386 to headphones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Needs capacitors and more tuning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7A78"/>
                </a:solidFill>
              </a:rPr>
              <a:t>Why it matters: </a:t>
            </a:r>
            <a:r>
              <a:rPr lang="en-US" sz="1250" dirty="0">
                <a:solidFill>
                  <a:srgbClr val="1F2937"/>
                </a:solidFill>
              </a:rPr>
              <a:t>a small copy of real hybrid links such as Li-Fi with Wi-Fi backup. Text captions also suit hearing-impaired users.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Phase 1: how the text link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ESP32 · LED · 433 MHz modules · CRC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AudiaHybrid  ·  Cyril Raj  ·  5/10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20624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325880"/>
            <a:ext cx="54864" cy="333756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A78"/>
                </a:solidFill>
              </a:rPr>
              <a:t>Message flow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783080"/>
            <a:ext cx="3886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Type a message on the dashboard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ESP32 frames it and adds a CRC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LED pulses and 433 MHz are sent together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Both receivers decode the message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CRC check; delivering link is noted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Result goes MQTT → backend → dashboard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840480" cy="17373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F8FA"/>
                          </a:solidFill>
                        </a:rPr>
                        <a:t>Pin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7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F8FA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7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7F8FA"/>
                          </a:solidFill>
                        </a:rPr>
                        <a:t>Detail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7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GPIO25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White LED transmit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GPIO26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RF TX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433 MHz transmit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GPIO34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Optical RX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Light receiver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GPIO35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RF RX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10k/10k divider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846320" y="3200400"/>
            <a:ext cx="38404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46320" y="3200400"/>
            <a:ext cx="54864" cy="1463040"/>
          </a:xfrm>
          <a:prstGeom prst="rect">
            <a:avLst/>
          </a:prstGeom>
          <a:solidFill>
            <a:srgbClr val="C47A3C"/>
          </a:solidFill>
          <a:ln w="6350">
            <a:solidFill>
              <a:srgbClr val="C47A3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0" y="3291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3C"/>
                </a:solidFill>
              </a:rPr>
              <a:t>Wiring rules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0" y="36576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Never exceed 3.3 V on an ESP32 pin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GPIO34/35 are ADC1: fine with Wi-Fi 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Phase 2: voice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Added after the text link works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AudiaHybrid  ·  Cyril Raj  ·  9/10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75488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325880"/>
            <a:ext cx="54864" cy="3337560"/>
          </a:xfrm>
          <a:prstGeom prst="rect">
            <a:avLst/>
          </a:prstGeom>
          <a:solidFill>
            <a:srgbClr val="C47A3C"/>
          </a:solidFill>
          <a:ln w="6350">
            <a:solidFill>
              <a:srgbClr val="C47A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17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3C"/>
                </a:solidFill>
              </a:rPr>
              <a:t>Analog audio chain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783080"/>
            <a:ext cx="4434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Electret mic with LM741 preamp (≈20–40 dB)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Band limit 300 Hz – 3.4 kHz, tone control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LED driver and 433 MHz AM transmitter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BPW34 photodiode receiver with amplifier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RF receiver with envelope demodulator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</a:rPr>
              <a:t>LM386 amplifier to headphones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0" y="1325880"/>
            <a:ext cx="32918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94960" y="1325880"/>
            <a:ext cx="54864" cy="160020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77840" y="1417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A78"/>
                </a:solidFill>
              </a:rPr>
              <a:t>Carries over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17830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MQTT, backend, dashboard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Failover rule between links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94960" y="3108960"/>
            <a:ext cx="32918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94960" y="3108960"/>
            <a:ext cx="54864" cy="1554480"/>
          </a:xfrm>
          <a:prstGeom prst="rect">
            <a:avLst/>
          </a:prstGeom>
          <a:solidFill>
            <a:srgbClr val="477A9E"/>
          </a:solidFill>
          <a:ln w="6350">
            <a:solidFill>
              <a:srgbClr val="477A9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77840" y="32004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7A9E"/>
                </a:solidFill>
              </a:rPr>
              <a:t>New in Phase 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3566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Capacitors and tuning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RF audio quality is the main risk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Failover and live demo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Simulate in Wokwi first, then repeat on the real hardware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AudiaHybrid  ·  Cyril Raj  ·  6/10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26517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325880"/>
            <a:ext cx="54864" cy="333756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A78"/>
                </a:solidFill>
              </a:rPr>
              <a:t>Failover rule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78308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Cover the LED: the system switches to RF automatically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Uncover it: it returns to optical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Dashboard badge shows the active link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Audio is sent on both links at once: LED and 433 MHz RF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ESP32 checks both link levels every 500 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Analog switch routes the live link to the LM386 headphone amp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325880"/>
            <a:ext cx="26517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325880"/>
            <a:ext cx="54864" cy="3337560"/>
          </a:xfrm>
          <a:prstGeom prst="rect">
            <a:avLst/>
          </a:prstGeom>
          <a:solidFill>
            <a:srgbClr val="477A9E"/>
          </a:solidFill>
          <a:ln w="6350">
            <a:solidFill>
              <a:srgbClr val="477A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7A9E"/>
                </a:solidFill>
              </a:rPr>
              <a:t>Demo script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178308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Send HELLO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Speak into the mic: audio plays on optical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Cover the LED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Watch the badge flip to RF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Audio keeps playing, now over RF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Show success rates and event log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325880"/>
            <a:ext cx="26517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325880"/>
            <a:ext cx="54864" cy="3337560"/>
          </a:xfrm>
          <a:prstGeom prst="rect">
            <a:avLst/>
          </a:prstGeom>
          <a:solidFill>
            <a:srgbClr val="C47A3C"/>
          </a:solidFill>
          <a:ln w="6350">
            <a:solidFill>
              <a:srgbClr val="C47A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3C"/>
                </a:solidFill>
              </a:rPr>
              <a:t>Simulation first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178308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Wokwi proves ESP32 → MQTT → dashboard before wiring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Pots and a switch stand in for the links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Wokwi cannot run the analog circuits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Real audio runs only on hardware: mic → preamp → filter → LED + RF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Receivers → switch → LM386 → headphones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MQTT data contract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The agreement between firmware, backend and dashboard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AudiaHybrid  ·  Cyril Raj  ·  7/10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572000" cy="243230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7F8FA"/>
                          </a:solidFill>
                        </a:rPr>
                        <a:t>Item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7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7F8FA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7A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Broker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broker.hivemq.com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ESP32 port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1883 (TCP)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Browser port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8884 (secure WebSocket)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Telemetry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audiahybrid/cyril-raj/telemetry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Status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…/status (retained, online/offline)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Rate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Every 500 ms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212080" y="1325880"/>
            <a:ext cx="3474720" cy="2743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394960" y="146304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"optical": 2840,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"rf": 1920,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"opt_ok": true,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"rf_ok": true,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"preferred": "optical",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"active": "optical",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"rssi": -55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Last-will: the broker publishes “offline” if the ESP32 disappears. Text-link fields (message, CRC result, delivering link) will extend this packet.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Backend and web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</a:rPr>
              <a:t>Node.js · Express · Prisma · SQLite  |  React 18 · Vite · Tailwind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AudiaHybrid  ·  Cyril Raj  ·  8/10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325880"/>
            <a:ext cx="54864" cy="333756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417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A78"/>
                </a:solidFill>
              </a:rPr>
              <a:t>Backend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783080"/>
            <a:ext cx="3703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MQTT subscriber, stores at most 1 row/second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Socket.io and SSE push live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REST: /api/hardware/readings, /history, /summary, /status, /health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Status service flags stale links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4023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325880"/>
            <a:ext cx="54864" cy="3337560"/>
          </a:xfrm>
          <a:prstGeom prst="rect">
            <a:avLst/>
          </a:prstGeom>
          <a:solidFill>
            <a:srgbClr val="477A9E"/>
          </a:solidFill>
          <a:ln w="6350">
            <a:solidFill>
              <a:srgbClr val="477A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417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7A9E"/>
                </a:solidFill>
              </a:rPr>
              <a:t>Dashboard (4 pages)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783080"/>
            <a:ext cx="3703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Dashboard: live panel, tiles, charts, event log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Telemetry: transport choice, backend health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Records: 1 h / 24 h / 7 d history, CSV export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About: signal chain, design vs prototype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Results, limits and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</a:rPr>
              <a:t>AudiaHybrid  ·  Cyril Raj  ·  10/10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54864" cy="2743200"/>
          </a:xfrm>
          <a:prstGeom prst="rect">
            <a:avLst/>
          </a:prstGeom>
          <a:solidFill>
            <a:srgbClr val="2B7A78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A78"/>
                </a:solidFill>
              </a:rPr>
              <a:t>Verified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5544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Firmware builds in both modes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Client builds, 24 tests pass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Live loop: ESP32 → HiveMQ → dashboard and database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97280"/>
            <a:ext cx="54864" cy="2743200"/>
          </a:xfrm>
          <a:prstGeom prst="rect">
            <a:avLst/>
          </a:prstGeom>
          <a:solidFill>
            <a:srgbClr val="C47A3C"/>
          </a:solidFill>
          <a:ln w="6350">
            <a:solidFill>
              <a:srgbClr val="C47A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29000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7A3C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15544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Public broker has no login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Simulation uses pots, not real signals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Physical text-link build is still in progress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RF modules suit digital data, not audio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109728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1097280"/>
            <a:ext cx="54864" cy="2743200"/>
          </a:xfrm>
          <a:prstGeom prst="rect">
            <a:avLst/>
          </a:prstGeom>
          <a:solidFill>
            <a:srgbClr val="477A9E"/>
          </a:solidFill>
          <a:ln w="6350">
            <a:solidFill>
              <a:srgbClr val="477A9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7A9E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55448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Build and measure the text link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Voice over the same hybrid link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Authenticated, encrypted MQTT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</a:rPr>
              <a:t>PostgreSQL, login, deployment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E9E3F2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Text first, voice next: one hybrid link, one decision rule, live visibility.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1293</Words>
  <Application>Microsoft Office PowerPoint</Application>
  <PresentationFormat>On-screen Show (16:9)</PresentationFormat>
  <Paragraphs>197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AudiaHybrid</dc:title>
  <dc:subject>PptxGenJS Presentation</dc:subject>
  <dc:creator>Cyril Raj</dc:creator>
  <cp:lastModifiedBy>Cyril Raj</cp:lastModifiedBy>
  <cp:revision>2</cp:revision>
  <dcterms:created xsi:type="dcterms:W3CDTF">2026-10-07T07:34:13Z</dcterms:created>
  <dcterms:modified xsi:type="dcterms:W3CDTF">2026-10-07T07:43:11Z</dcterms:modified>
</cp:coreProperties>
</file>